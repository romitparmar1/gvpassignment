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34"/>
          </a:solidFill>
          <a:ln>
            <a:solidFill>
              <a:srgbClr val="12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Singly Linked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331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FB5C7"/>
                </a:solidFill>
                <a:latin typeface="Aptos"/>
              </a:defRPr>
            </a:pPr>
            <a:r>
              <a:t>Student Record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DEF0"/>
                </a:solidFill>
                <a:latin typeface="Aptos"/>
              </a:defRPr>
            </a:pPr>
            <a:r>
              <a:t>Understanding how student records are stored,</a:t>
            </a:r>
            <a:br/>
            <a:r>
              <a:t>connected and managed using linked nodes.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2834640" cy="502920"/>
          </a:xfrm>
          <a:prstGeom prst="round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828800"/>
            <a:ext cx="960120" cy="960120"/>
          </a:xfrm>
          <a:prstGeom prst="round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8483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828800"/>
            <a:ext cx="960120" cy="960120"/>
          </a:xfrm>
          <a:prstGeom prst="round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08483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0" y="1828800"/>
            <a:ext cx="960120" cy="960120"/>
          </a:xfrm>
          <a:prstGeom prst="roundRect">
            <a:avLst/>
          </a:prstGeom>
          <a:solidFill>
            <a:srgbClr val="6752B4"/>
          </a:solidFill>
          <a:ln>
            <a:solidFill>
              <a:srgbClr val="67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B4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21E34"/>
                </a:solidFill>
                <a:latin typeface="Aptos"/>
              </a:defRPr>
            </a:pPr>
            <a:r>
              <a:t>What is a Singly Linked List?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752B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212080" cy="4434840"/>
          </a:xfrm>
          <a:prstGeom prst="roundRect">
            <a:avLst/>
          </a:prstGeom>
          <a:solidFill>
            <a:srgbClr val="E8F1FB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64008" cy="4434840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Simple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48840"/>
            <a:ext cx="475488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A singly linked list is a linear data structure made of connected nodes.</a:t>
            </a:r>
            <a:br/>
            <a:br/>
            <a:r>
              <a:t>Each node contains:</a:t>
            </a:r>
            <a:br/>
            <a:r>
              <a:t>• Data — the information being stored</a:t>
            </a:r>
            <a:br/>
            <a:r>
              <a:t>• Link — address of the next node</a:t>
            </a:r>
            <a:br/>
            <a:br/>
            <a:r>
              <a:t>The final node points to NULL.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1E34"/>
                </a:solidFill>
                <a:latin typeface="Aptos"/>
              </a:defRPr>
            </a:pPr>
            <a:r>
              <a:t>Basic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286000"/>
            <a:ext cx="1417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523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69B4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97485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266090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FB5C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1417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523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69B4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926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97485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4352" y="266090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FB5C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2286000"/>
            <a:ext cx="1417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2523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69B4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926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97485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0690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D9D6F"/>
                </a:solidFill>
                <a:latin typeface="Aptos"/>
              </a:defRPr>
            </a:pPr>
            <a:r>
              <a:t>HEAD → NODE → NODE → NULL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B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21E34"/>
                </a:solidFill>
                <a:latin typeface="Aptos"/>
              </a:defRPr>
            </a:pPr>
            <a:r>
              <a:t>Why Use It for Student Records?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752B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29000" cy="3566160"/>
          </a:xfrm>
          <a:prstGeom prst="roundRect">
            <a:avLst/>
          </a:prstGeom>
          <a:solidFill>
            <a:srgbClr val="E8F1FB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4008" cy="3566160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373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Flexible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40280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The number of student records can increase or decrease during program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3566160"/>
          </a:xfrm>
          <a:prstGeom prst="roundRect">
            <a:avLst/>
          </a:prstGeom>
          <a:solidFill>
            <a:srgbClr val="E5F7F9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64008" cy="3566160"/>
          </a:xfrm>
          <a:prstGeom prst="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373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Dynamic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40280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Memory is allocated when a new student node is created, instead of fixing a size in advance.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429000" cy="3566160"/>
          </a:xfrm>
          <a:prstGeom prst="roundRect">
            <a:avLst/>
          </a:prstGeom>
          <a:solidFill>
            <a:srgbClr val="EFEBFA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54480"/>
            <a:ext cx="64008" cy="3566160"/>
          </a:xfrm>
          <a:prstGeom prst="rect">
            <a:avLst/>
          </a:prstGeom>
          <a:solidFill>
            <a:srgbClr val="6752B4"/>
          </a:solidFill>
          <a:ln>
            <a:solidFill>
              <a:srgbClr val="67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7373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Easy Linking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240280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Each student can be connected to another student through the NEXT link.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E34"/>
                </a:solidFill>
                <a:latin typeface="Aptos"/>
              </a:defRPr>
            </a:pPr>
            <a:r>
              <a:t>Useful when student records change frequently.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B4"/>
                </a:solidFill>
                <a:latin typeface="Aptos"/>
              </a:defRPr>
            </a:pPr>
            <a:r>
              <a:t>NODE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21E34"/>
                </a:solidFill>
                <a:latin typeface="Aptos"/>
              </a:defRPr>
            </a:pPr>
            <a:r>
              <a:t>Structure of a Student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752B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A3444"/>
                </a:solidFill>
                <a:latin typeface="Aptos"/>
              </a:defRPr>
            </a:pPr>
            <a:r>
              <a:t>One node represents one student.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10332720" cy="1600200"/>
          </a:xfrm>
          <a:prstGeom prst="roundRect">
            <a:avLst/>
          </a:prstGeom>
          <a:solidFill>
            <a:srgbClr val="121E34"/>
          </a:solidFill>
          <a:ln>
            <a:solidFill>
              <a:srgbClr val="12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FB5C7"/>
                </a:solidFill>
                <a:latin typeface="Aptos"/>
              </a:defRPr>
            </a:pPr>
            <a:r>
              <a:t>ROLL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066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FB5C7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7066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Rahul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331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FB5C7"/>
                </a:solidFill>
                <a:latin typeface="Aptos"/>
              </a:defRPr>
            </a:pPr>
            <a:r>
              <a:t>GENDER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70662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331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FB5C7"/>
                </a:solidFill>
                <a:latin typeface="Aptos"/>
              </a:defRPr>
            </a:pPr>
            <a:r>
              <a:t>BIRTH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7066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12/05/2005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331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FB5C7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70662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6052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160520"/>
            <a:ext cx="64008" cy="1417320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" y="434340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Data 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846320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Roll No, Name, Gender and Birth Date describe the student.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16052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4160520"/>
            <a:ext cx="64008" cy="1417320"/>
          </a:xfrm>
          <a:prstGeom prst="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7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Link Part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7" y="4846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NEXT stores the connection/address of the next student node.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B4"/>
                </a:solidFill>
                <a:latin typeface="Aptos"/>
              </a:defRPr>
            </a:pPr>
            <a:r>
              <a:t>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21E34"/>
                </a:solidFill>
                <a:latin typeface="Aptos"/>
              </a:defRPr>
            </a:pPr>
            <a:r>
              <a:t>How Does the List 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752B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713232" cy="603504"/>
          </a:xfrm>
          <a:prstGeom prst="round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45336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435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34"/>
                </a:solidFill>
                <a:latin typeface="Aptos"/>
              </a:defRPr>
            </a:pPr>
            <a:r>
              <a:t>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408176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A3444"/>
                </a:solidFill>
                <a:latin typeface="Aptos"/>
              </a:defRPr>
            </a:pPr>
            <a:r>
              <a:t>Points to the first student node.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41448"/>
            <a:ext cx="713232" cy="603504"/>
          </a:xfrm>
          <a:prstGeom prst="round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6946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4597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34"/>
                </a:solidFill>
                <a:latin typeface="Aptos"/>
              </a:defRPr>
            </a:pPr>
            <a:r>
              <a:t>TRAVERSE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32304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A3444"/>
                </a:solidFill>
                <a:latin typeface="Aptos"/>
              </a:defRPr>
            </a:pPr>
            <a:r>
              <a:t>Move from one node to the next through NEXT.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65576"/>
            <a:ext cx="713232" cy="603504"/>
          </a:xfrm>
          <a:prstGeom prst="roundRect">
            <a:avLst/>
          </a:prstGeom>
          <a:solidFill>
            <a:srgbClr val="6752B4"/>
          </a:solidFill>
          <a:ln>
            <a:solidFill>
              <a:srgbClr val="67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9359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483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34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456432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A3444"/>
                </a:solidFill>
                <a:latin typeface="Aptos"/>
              </a:defRPr>
            </a:pPr>
            <a:r>
              <a:t>Access the information stored in each node.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489704"/>
            <a:ext cx="713232" cy="603504"/>
          </a:xfrm>
          <a:prstGeom prst="roundRect">
            <a:avLst/>
          </a:prstGeom>
          <a:solidFill>
            <a:srgbClr val="2D9D6F"/>
          </a:solidFill>
          <a:ln>
            <a:solidFill>
              <a:srgbClr val="2D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507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34"/>
                </a:solidFill>
                <a:latin typeface="Aptos"/>
              </a:defRPr>
            </a:pPr>
            <a:r>
              <a:t>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48056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A3444"/>
                </a:solidFill>
                <a:latin typeface="Aptos"/>
              </a:defRPr>
            </a:pPr>
            <a:r>
              <a:t>Stop when the link becomes NULL.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B4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21E34"/>
                </a:solidFill>
                <a:latin typeface="Aptos"/>
              </a:defRPr>
            </a:pPr>
            <a:r>
              <a:t>Main Operations on Student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752B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303520" cy="1828800"/>
          </a:xfrm>
          <a:prstGeom prst="roundRect">
            <a:avLst/>
          </a:prstGeom>
          <a:solidFill>
            <a:srgbClr val="E8F1FB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4008" cy="1828800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1. Insert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94560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Create a new node, store the student's information and connect it to the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303520" cy="1828800"/>
          </a:xfrm>
          <a:prstGeom prst="roundRect">
            <a:avLst/>
          </a:prstGeom>
          <a:solidFill>
            <a:srgbClr val="E5F7F9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4008" cy="1828800"/>
          </a:xfrm>
          <a:prstGeom prst="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2. Display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194560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Traverse from HEAD to NULL and show each student's complete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303520" cy="1828800"/>
          </a:xfrm>
          <a:prstGeom prst="roundRect">
            <a:avLst/>
          </a:prstGeom>
          <a:solidFill>
            <a:srgbClr val="EFEBFA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657600"/>
            <a:ext cx="64008" cy="1828800"/>
          </a:xfrm>
          <a:prstGeom prst="rect">
            <a:avLst/>
          </a:prstGeom>
          <a:solidFill>
            <a:srgbClr val="6752B4"/>
          </a:solidFill>
          <a:ln>
            <a:solidFill>
              <a:srgbClr val="67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3. 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343400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Remove a selected student node and reconnect the remaining nodes.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64008" cy="1828800"/>
          </a:xfrm>
          <a:prstGeom prst="rect">
            <a:avLst/>
          </a:prstGeom>
          <a:solidFill>
            <a:srgbClr val="2D9D6F"/>
          </a:solidFill>
          <a:ln>
            <a:solidFill>
              <a:srgbClr val="2D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4. Modify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4343400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Change information stored in an existing student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B4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21E34"/>
                </a:solidFill>
                <a:latin typeface="Aptos"/>
              </a:defRPr>
            </a:pPr>
            <a:r>
              <a:t>Example: Student Records in a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752B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A3444"/>
                </a:solidFill>
                <a:latin typeface="Aptos"/>
              </a:defRPr>
            </a:pPr>
            <a:r>
              <a:t>Suppose three students are stored: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1E34"/>
                </a:solidFill>
                <a:latin typeface="Aptos"/>
              </a:defRPr>
            </a:pPr>
            <a:r>
              <a:t>ROLL NO  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3444"/>
                </a:solidFill>
                <a:latin typeface="Aptos"/>
              </a:defRPr>
            </a:pPr>
            <a:r>
              <a:t>NAME  Rahul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97485"/>
                </a:solidFill>
                <a:latin typeface="Aptos"/>
              </a:defRPr>
            </a:pPr>
            <a:r>
              <a:t>GENDER 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FB5C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10312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3591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1E34"/>
                </a:solidFill>
                <a:latin typeface="Aptos"/>
              </a:defRPr>
            </a:pPr>
            <a:r>
              <a:t>ROLL NO  102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163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3444"/>
                </a:solidFill>
                <a:latin typeface="Aptos"/>
              </a:defRPr>
            </a:pPr>
            <a:r>
              <a:t>NAME  Priya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2735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97485"/>
                </a:solidFill>
                <a:latin typeface="Aptos"/>
              </a:defRPr>
            </a:pPr>
            <a:r>
              <a:t>GENDER  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FB5C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10312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67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3591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1E34"/>
                </a:solidFill>
                <a:latin typeface="Aptos"/>
              </a:defRPr>
            </a:pPr>
            <a:r>
              <a:t>ROLL NO  103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163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3444"/>
                </a:solidFill>
                <a:latin typeface="Aptos"/>
              </a:defRPr>
            </a:pPr>
            <a:r>
              <a:t>NAME  Amit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735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97485"/>
                </a:solidFill>
                <a:latin typeface="Aptos"/>
              </a:defRPr>
            </a:pPr>
            <a:r>
              <a:t>GENDER 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2D9D6F"/>
                </a:solidFill>
                <a:latin typeface="Aptos"/>
              </a:defRPr>
            </a:pPr>
            <a:r>
              <a:t>HEAD → Rahul → Priya → Amit → 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21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97485"/>
                </a:solidFill>
                <a:latin typeface="Aptos"/>
              </a:defRPr>
            </a:pPr>
            <a:r>
              <a:t>The records are accessed sequentially from first node to last.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B5C7"/>
          </a:solidFill>
          <a:ln>
            <a:solidFill>
              <a:srgbClr val="2FB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69B4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21E34"/>
                </a:solidFill>
                <a:latin typeface="Aptos"/>
              </a:defRPr>
            </a:pPr>
            <a:r>
              <a:t>Advantages, Limitations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752B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4114800"/>
          </a:xfrm>
          <a:prstGeom prst="roundRect">
            <a:avLst/>
          </a:prstGeom>
          <a:solidFill>
            <a:srgbClr val="E5F7F9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4114800"/>
          </a:xfrm>
          <a:prstGeom prst="rect">
            <a:avLst/>
          </a:prstGeom>
          <a:solidFill>
            <a:srgbClr val="2D9D6F"/>
          </a:solidFill>
          <a:ln>
            <a:solidFill>
              <a:srgbClr val="2D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• Dynamic size</a:t>
            </a:r>
            <a:br/>
            <a:br/>
            <a:r>
              <a:t>• Flexible memory usage</a:t>
            </a:r>
            <a:br/>
            <a:br/>
            <a:r>
              <a:t>• Easy insertion and deletion</a:t>
            </a:r>
            <a:br/>
            <a:br/>
            <a:r>
              <a:t>• Suitable for changing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4114800"/>
          </a:xfrm>
          <a:prstGeom prst="roundRect">
            <a:avLst/>
          </a:prstGeom>
          <a:solidFill>
            <a:srgbClr val="EFEBFA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64008" cy="4114800"/>
          </a:xfrm>
          <a:prstGeom prst="rect">
            <a:avLst/>
          </a:prstGeom>
          <a:solidFill>
            <a:srgbClr val="6752B4"/>
          </a:solidFill>
          <a:ln>
            <a:solidFill>
              <a:srgbClr val="67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6002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103120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• Sequential access</a:t>
            </a:r>
            <a:br/>
            <a:br/>
            <a:r>
              <a:t>• Extra memory for links</a:t>
            </a:r>
            <a:br/>
            <a:br/>
            <a:r>
              <a:t>• Searching may require traversing many nodes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429000" cy="4114800"/>
          </a:xfrm>
          <a:prstGeom prst="roundRect">
            <a:avLst/>
          </a:prstGeom>
          <a:solidFill>
            <a:srgbClr val="E8F1FB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64008" cy="4114800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6002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3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103120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3444"/>
                </a:solidFill>
                <a:latin typeface="Aptos"/>
              </a:defRPr>
            </a:pPr>
            <a:r>
              <a:t>A singly linked list connects student records through nodes.</a:t>
            </a:r>
            <a:br/>
            <a:br/>
            <a:r>
              <a:t>Each node stores student data and a link to the next node.</a:t>
            </a:r>
            <a:br/>
            <a:br/>
            <a:r>
              <a:t>It is a useful dynamic data structure.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21E34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